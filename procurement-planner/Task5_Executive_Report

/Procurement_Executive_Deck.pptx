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Revenue FY25 vs FY26 Forecast (₹ 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FY25 Revenue (Cr)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Reload Orange</c:v>
                  </c:pt>
                  <c:pt idx="1">
                    <c:v>Reload E&amp;V</c:v>
                  </c:pt>
                  <c:pt idx="2">
                    <c:v>Plant Protein</c:v>
                  </c:pt>
                  <c:pt idx="3">
                    <c:v>Lean Body</c:v>
                  </c:pt>
                  <c:pt idx="4">
                    <c:v>Daily Fiber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3.78</c:v>
                </c:pt>
                <c:pt idx="1">
                  <c:v>1.155</c:v>
                </c:pt>
                <c:pt idx="2">
                  <c:v>2.415</c:v>
                </c:pt>
                <c:pt idx="3">
                  <c:v>1.89</c:v>
                </c:pt>
                <c:pt idx="4">
                  <c:v>1.26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 Projected (Cr)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Reload Orange</c:v>
                  </c:pt>
                  <c:pt idx="1">
                    <c:v>Reload E&amp;V</c:v>
                  </c:pt>
                  <c:pt idx="2">
                    <c:v>Plant Protein</c:v>
                  </c:pt>
                  <c:pt idx="3">
                    <c:v>Lean Body</c:v>
                  </c:pt>
                  <c:pt idx="4">
                    <c:v>Daily Fiber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9.45</c:v>
                </c:pt>
                <c:pt idx="1">
                  <c:v>4.04</c:v>
                </c:pt>
                <c:pt idx="2">
                  <c:v>9.18</c:v>
                </c:pt>
                <c:pt idx="3">
                  <c:v>5.29</c:v>
                </c:pt>
                <c:pt idx="4">
                  <c:v>3.28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Reorder Points: Normal vs 50% Demand Spike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 ROP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Reload
Orange</c:v>
                  </c:pt>
                  <c:pt idx="1">
                    <c:v>Reload
E&amp;V</c:v>
                  </c:pt>
                  <c:pt idx="2">
                    <c:v>Plant
Protein</c:v>
                  </c:pt>
                  <c:pt idx="3">
                    <c:v>Lean
Body</c:v>
                  </c:pt>
                  <c:pt idx="4">
                    <c:v>Daily
Fiber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12116</c:v>
                </c:pt>
                <c:pt idx="1">
                  <c:v>5374</c:v>
                </c:pt>
                <c:pt idx="2">
                  <c:v>4269</c:v>
                </c:pt>
                <c:pt idx="3">
                  <c:v>1937</c:v>
                </c:pt>
                <c:pt idx="4">
                  <c:v>2042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50% Spike ROP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Reload
Orange</c:v>
                  </c:pt>
                  <c:pt idx="1">
                    <c:v>Reload
E&amp;V</c:v>
                  </c:pt>
                  <c:pt idx="2">
                    <c:v>Plant
Protein</c:v>
                  </c:pt>
                  <c:pt idx="3">
                    <c:v>Lean
Body</c:v>
                  </c:pt>
                  <c:pt idx="4">
                    <c:v>Daily
Fiber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18174</c:v>
                </c:pt>
                <c:pt idx="1">
                  <c:v>8061</c:v>
                </c:pt>
                <c:pt idx="2">
                  <c:v>6382</c:v>
                </c:pt>
                <c:pt idx="3">
                  <c:v>2905</c:v>
                </c:pt>
                <c:pt idx="4">
                  <c:v>3063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rial"/>
              </a:rPr>
              <a:t>Supplier Composite Score (Higher = Safer)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Composite Score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3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dPt>
            <c:idx val="1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Sheet1!$A$2:$A$16</c:f>
              <c:multiLvlStrCache>
                <c:ptCount val="15"/>
                <c:lvl>
                  <c:pt idx="0">
                    <c:v>SupplierA-PP</c:v>
                  </c:pt>
                  <c:pt idx="1">
                    <c:v>SupplierC-RO</c:v>
                  </c:pt>
                  <c:pt idx="2">
                    <c:v>SupplierA-EV</c:v>
                  </c:pt>
                  <c:pt idx="3">
                    <c:v>SupplierA-RO</c:v>
                  </c:pt>
                  <c:pt idx="4">
                    <c:v>SupplierA-LB</c:v>
                  </c:pt>
                  <c:pt idx="5">
                    <c:v>SupplierA-DF</c:v>
                  </c:pt>
                  <c:pt idx="6">
                    <c:v>SupplierB-DF</c:v>
                  </c:pt>
                  <c:pt idx="7">
                    <c:v>SupplierC-DF</c:v>
                  </c:pt>
                  <c:pt idx="8">
                    <c:v>SupplierC-EV</c:v>
                  </c:pt>
                  <c:pt idx="9">
                    <c:v>SupplierB-PP</c:v>
                  </c:pt>
                  <c:pt idx="10">
                    <c:v>SupplierB-RO</c:v>
                  </c:pt>
                  <c:pt idx="11">
                    <c:v>SupplierC-LB</c:v>
                  </c:pt>
                  <c:pt idx="12">
                    <c:v>SupplierB-LB</c:v>
                  </c:pt>
                  <c:pt idx="13">
                    <c:v>SupplierC-PP</c:v>
                  </c:pt>
                  <c:pt idx="14">
                    <c:v>SupplierB-EV</c:v>
                  </c:pt>
                </c:lvl>
              </c:multiLvlStrCache>
            </c:multiLvl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8.65</c:v>
                </c:pt>
                <c:pt idx="1">
                  <c:v>8.5</c:v>
                </c:pt>
                <c:pt idx="2">
                  <c:v>7.7</c:v>
                </c:pt>
                <c:pt idx="3">
                  <c:v>7.5</c:v>
                </c:pt>
                <c:pt idx="4">
                  <c:v>7.6</c:v>
                </c:pt>
                <c:pt idx="5">
                  <c:v>7.6</c:v>
                </c:pt>
                <c:pt idx="6">
                  <c:v>7.7</c:v>
                </c:pt>
                <c:pt idx="7">
                  <c:v>7.6</c:v>
                </c:pt>
                <c:pt idx="8">
                  <c:v>7.4</c:v>
                </c:pt>
                <c:pt idx="9">
                  <c:v>7.35</c:v>
                </c:pt>
                <c:pt idx="10">
                  <c:v>7.05</c:v>
                </c:pt>
                <c:pt idx="11">
                  <c:v>6.9</c:v>
                </c:pt>
                <c:pt idx="12">
                  <c:v>6.5</c:v>
                </c:pt>
                <c:pt idx="13">
                  <c:v>7.2</c:v>
                </c:pt>
                <c:pt idx="14">
                  <c:v>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4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457200"/>
            <a:ext cx="2560320" cy="10972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0" y="457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3×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0" y="1005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Growth Target FY26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Projection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AI Planning Report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3657600" cy="3657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Fast&amp;Up (Aeronutrix Sports Products Pvt Ltd)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AI Intern Assignment  |  April 2026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Arya Manjardekar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192024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₹31.24 Cr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526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4"/>
                </a:solidFill>
              </a:rPr>
              <a:t>FY26 Projection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06040" y="4114800"/>
            <a:ext cx="192024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₹10.08 Cr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4526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4"/>
                </a:solidFill>
              </a:rPr>
              <a:t>Budget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4114800"/>
            <a:ext cx="192024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4,12,747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54880" y="4526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4"/>
                </a:solidFill>
              </a:rPr>
              <a:t>Units Forecasted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03720" y="4114800"/>
            <a:ext cx="192024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03720" y="45262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4C4"/>
                </a:solidFill>
              </a:rPr>
              <a:t>Suppliers Assessed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— FY26 Demand Forecast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₹31.24 Cr Projected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486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126480" y="914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FY26 Unit Projections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26480" y="1371600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26480" y="1371600"/>
            <a:ext cx="73152" cy="566928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63640" y="138988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Reload Orange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63640" y="16459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2,10,000 units  ·  2.5× growth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126480" y="2029968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0" y="2029968"/>
            <a:ext cx="73152" cy="566928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63640" y="20482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Reload E&amp;V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263640" y="23042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77,740 units  ·  3.5× growth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126480" y="2688336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26480" y="2688336"/>
            <a:ext cx="73152" cy="566928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27066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Plant Protein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263640" y="29626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50,983 units  ·  3.8× growth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126480" y="3346704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26480" y="3346704"/>
            <a:ext cx="73152" cy="566928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3640" y="33649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Lean Body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63640" y="36210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33,075 units  ·  2.8× growth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126480" y="4005072"/>
            <a:ext cx="27432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126480" y="4005072"/>
            <a:ext cx="73152" cy="566928"/>
          </a:xfrm>
          <a:prstGeom prst="rect">
            <a:avLst/>
          </a:prstGeom>
          <a:solidFill>
            <a:srgbClr val="9467BD"/>
          </a:solidFill>
          <a:ln w="12700">
            <a:solidFill>
              <a:srgbClr val="9467B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63640" y="40233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Daily Fiber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263640" y="42793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40,949 units  ·  2.6× growth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2 &amp; 3 — Reorder Points &amp; Budget Optimization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303520" y="914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Budget Allocation — ₹10.08 Cr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303520" y="1325880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03520" y="1325880"/>
            <a:ext cx="73152" cy="502920"/>
          </a:xfrm>
          <a:prstGeom prst="rect">
            <a:avLst/>
          </a:prstGeom>
          <a:solidFill>
            <a:srgbClr val="1F77B4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40680" y="13624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Reload Orange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40680" y="15819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₹3.78 Cr  ·  Fulfillment: 100%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0" y="1920240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303520" y="1920240"/>
            <a:ext cx="73152" cy="502920"/>
          </a:xfrm>
          <a:prstGeom prst="rect">
            <a:avLst/>
          </a:prstGeom>
          <a:solidFill>
            <a:srgbClr val="FF7F0E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40680" y="195681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Reload E&amp;V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40680" y="21762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₹1.62 Cr  ·  Fulfillment: 100%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5303520" y="2514600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03520" y="2514600"/>
            <a:ext cx="73152" cy="50292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40680" y="255117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Plant Protein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40680" y="27706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₹2.63 Cr  ·  Fulfillment: 71.6%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303520" y="3108960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303520" y="3108960"/>
            <a:ext cx="73152" cy="502920"/>
          </a:xfrm>
          <a:prstGeom prst="rect">
            <a:avLst/>
          </a:prstGeom>
          <a:solidFill>
            <a:srgbClr val="D62728"/>
          </a:solidFill>
          <a:ln w="12700">
            <a:solidFill>
              <a:srgbClr val="D627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40680" y="31455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Lean Body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440680" y="33649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₹1.27 Cr  ·  Fulfillment: 60.0%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303520" y="3703320"/>
            <a:ext cx="35661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03520" y="3703320"/>
            <a:ext cx="73152" cy="502920"/>
          </a:xfrm>
          <a:prstGeom prst="rect">
            <a:avLst/>
          </a:prstGeom>
          <a:solidFill>
            <a:srgbClr val="9467BD"/>
          </a:solidFill>
          <a:ln w="12700">
            <a:solidFill>
              <a:srgbClr val="9467B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40680" y="373989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Daily Fiber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440680" y="39593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₹0.79 Cr  ·  Fulfillment: 60.0%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303520" y="4389120"/>
            <a:ext cx="3566160" cy="5486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49240" y="440740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</a:rPr>
              <a:t>⚠ Sensitivity: </a:t>
            </a:r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</a:rPr>
              <a:t>-20% budget → 307K units  |  +20% budget → 400K units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Supplier Risk Assessment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15 Suppliers | 5 SKUs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9144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Risk Summary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35040" y="1371600"/>
            <a:ext cx="2834640" cy="86868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40817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🔴 HIGH RISK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080760" y="162763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SupplierB-EV (China)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80760" y="184708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Score: 5.75/10  ·  Action: Replace with South Asian alt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035040" y="2377440"/>
            <a:ext cx="2834640" cy="86868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41401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🟠 MODERATE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080760" y="263347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SupplierB-LB (India)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285292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Score: 6.50/10  ·  Action: Improve reliability SLA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3383280"/>
            <a:ext cx="2834640" cy="868680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3419856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🟠 MODERATE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80760" y="36393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SupplierC-LB (Thailand)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080760" y="385876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Score: 6.90/10  ·  Action: Add backup contract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035040" y="4434840"/>
            <a:ext cx="2834640" cy="502920"/>
          </a:xfrm>
          <a:prstGeom prst="rect">
            <a:avLst/>
          </a:prstGeom>
          <a:solidFill>
            <a:srgbClr val="DCFCE7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80760" y="446227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</a:rPr>
              <a:t>🏆 Best: SupplierA-PP (Netherlands) — 8.65/10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66534"/>
                </a:solidFill>
              </a:rPr>
              <a:t>Recommend as primary Plant Protein supplier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Risks, Mitigation &amp; 90-Day Action Plan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859536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2743200" cy="23774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Plant Protein Budget Gap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94560"/>
                </a:solidFill>
              </a:rPr>
              <a:t>RISK: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4C4"/>
                </a:solidFill>
              </a:rPr>
              <a:t>28.4% demand shortfall = ₹2.61 Cr lost revenue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21762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</a:rPr>
              <a:t>MITIGATION: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Request ₹2 Cr top-up in Q2 OR negotiate 15% bulk discount with SupplierA-PP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27832" y="914400"/>
            <a:ext cx="2743200" cy="23774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27832" y="914400"/>
            <a:ext cx="27432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China Supplier Dependency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9272" y="144475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RISK: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319272" y="16276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4C4"/>
                </a:solidFill>
              </a:rPr>
              <a:t>SupplierB-EV scores 5.75/10 — single-source risk for Reload E&amp;V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19272" y="21762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</a:rPr>
              <a:t>MITIGATION: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19272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Qualify South Asian backup supplier within 90 days. Target score &gt; 7.5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181344" y="914400"/>
            <a:ext cx="2743200" cy="23774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81344" y="914400"/>
            <a:ext cx="2743200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005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Demand Spike Vulnerability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72784" y="144475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</a:rPr>
              <a:t>RISK: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72784" y="16276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B4C4"/>
                </a:solidFill>
              </a:rPr>
              <a:t>50% spike increases all reorder points by ~49% — stock-out risk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72784" y="21762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</a:rPr>
              <a:t>MITIGATION: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272784" y="23774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Build 30-day safety stock for top-2 SKUs before summer/festival season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3401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4560"/>
                </a:solidFill>
              </a:rPr>
              <a:t>90-Day Action Plan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74320" y="3794760"/>
            <a:ext cx="2743200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822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MAY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" y="409651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Place FY26 POs for all 5 SKUs  ·  Begin SupplierB-EV replacement  ·  Deploy reorder alert scripts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27832" y="3794760"/>
            <a:ext cx="2743200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19272" y="3822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JUN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19272" y="409651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Review Plant Protein fulfillment + request budget top-up  ·  Negotiate bulk discount SupplierA-PP  ·  Build safety stock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81344" y="3794760"/>
            <a:ext cx="2743200" cy="10972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2784" y="3822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JUL 2026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72784" y="4096512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Qualify Reload E&amp;V backup supplier  ·  Mid-year forecast review  ·  Score all 15 suppliers on actual performance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Projection &amp; AI Planning — Fast&amp;Up FY26</dc:title>
  <dc:subject>PptxGenJS Presentation</dc:subject>
  <dc:creator>Arya Manjardekar</dc:creator>
  <cp:lastModifiedBy>Arya Manjardekar</cp:lastModifiedBy>
  <cp:revision>1</cp:revision>
  <dcterms:created xsi:type="dcterms:W3CDTF">2026-04-29T05:40:53Z</dcterms:created>
  <dcterms:modified xsi:type="dcterms:W3CDTF">2026-04-29T05:40:53Z</dcterms:modified>
</cp:coreProperties>
</file>